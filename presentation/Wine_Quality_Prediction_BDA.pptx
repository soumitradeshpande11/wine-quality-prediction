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chive.ics.uci.edu/dataset/186/wine+qualit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umitraDeshpande11/wine-quality-prediction" TargetMode="External"/><Relationship Id="rId3" Type="http://schemas.openxmlformats.org/officeDocument/2006/relationships/hyperlink" Target="https://soumitradeshpande11-wine-quality-prediction-app-pnq8pq.streamlit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0"/>
            <a:ext cx="4370832" cy="6483096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82712" y="384048"/>
            <a:ext cx="3767328" cy="4462272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75904" y="384048"/>
            <a:ext cx="3374136" cy="4626864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69096" y="384048"/>
            <a:ext cx="2980944" cy="4791456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62288" y="384048"/>
            <a:ext cx="2587752" cy="4956048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55480" y="384048"/>
            <a:ext cx="2194560" cy="5120640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48672" y="384048"/>
            <a:ext cx="1801368" cy="5285231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41864" y="384048"/>
            <a:ext cx="1408176" cy="5449824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35056" y="384048"/>
            <a:ext cx="1014984" cy="5614416"/>
          </a:xfrm>
          <a:prstGeom prst="line">
            <a:avLst/>
          </a:prstGeom>
          <a:ln w="8890">
            <a:solidFill>
              <a:srgbClr val="551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641080" y="1060704"/>
            <a:ext cx="2212848" cy="2212848"/>
          </a:xfrm>
          <a:prstGeom prst="ellipse">
            <a:avLst/>
          </a:prstGeom>
          <a:solidFill>
            <a:srgbClr val="551D30"/>
          </a:solidFill>
          <a:ln w="12700">
            <a:solidFill>
              <a:srgbClr val="E8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80576" y="1591056"/>
            <a:ext cx="1143000" cy="1143000"/>
          </a:xfrm>
          <a:prstGeom prst="ellipse">
            <a:avLst/>
          </a:prstGeom>
          <a:solidFill>
            <a:srgbClr val="822D43"/>
          </a:solidFill>
          <a:ln w="12700">
            <a:solidFill>
              <a:srgbClr val="E8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56648" y="2706624"/>
            <a:ext cx="0" cy="1207008"/>
          </a:xfrm>
          <a:prstGeom prst="line">
            <a:avLst/>
          </a:prstGeom>
          <a:ln w="381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8" y="3922776"/>
            <a:ext cx="1371600" cy="0"/>
          </a:xfrm>
          <a:prstGeom prst="line">
            <a:avLst/>
          </a:prstGeom>
          <a:ln w="381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585216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MACHINE LEARNING FUNDAMENTALS  ·  GROUP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43584"/>
            <a:ext cx="69951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0" i="0">
                <a:solidFill>
                  <a:srgbClr val="F7F1E7"/>
                </a:solidFill>
                <a:latin typeface="Georgia"/>
              </a:rPr>
              <a:t>WINE
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822191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8C68A"/>
                </a:solidFill>
                <a:latin typeface="Arial"/>
              </a:rPr>
              <a:t>PREDICTION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5216" y="4480560"/>
            <a:ext cx="5760720" cy="0"/>
          </a:xfrm>
          <a:prstGeom prst="line">
            <a:avLst/>
          </a:prstGeom>
          <a:ln w="1905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4736592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8B0A7"/>
                </a:solidFill>
                <a:latin typeface="Arial"/>
              </a:rPr>
              <a:t>From red-wine chemistry to an interpretable quality estimate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828032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TEAM 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5184648"/>
            <a:ext cx="3429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7F1E7"/>
                </a:solidFill>
                <a:latin typeface="Arial"/>
              </a:rPr>
              <a:t>Soumitra Deshpande  ·  Prathamesh Swami
Pranav Kale  ·  R Virshin  ·  Raj Koli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01 /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Can chemistry predict taste?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A numerical quality score is estimated from laboratory measurements of red wine.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65376"/>
            <a:ext cx="71780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1E7"/>
                </a:solidFill>
                <a:latin typeface="Georgia"/>
              </a:rPr>
              <a:t>11 measurements
→ 1 quality score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3337560"/>
            <a:ext cx="6620256" cy="0"/>
          </a:xfrm>
          <a:prstGeom prst="line">
            <a:avLst/>
          </a:prstGeom>
          <a:ln w="38100">
            <a:solidFill>
              <a:srgbClr val="A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621024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C68A"/>
                </a:solidFill>
                <a:latin typeface="Arial"/>
              </a:rPr>
              <a:t>Supervised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9663"/>
            <a:ext cx="5806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8B0A7"/>
                </a:solidFill>
                <a:latin typeface="Arial"/>
              </a:rPr>
              <a:t>The model predicts the dataset’s rated quality value. We compare predictions with held-out ratings using error and fit 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56231"/>
            <a:ext cx="3374136" cy="3630168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21671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2578608"/>
            <a:ext cx="263347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7"/>
                </a:solidFill>
                <a:latin typeface="Arial"/>
              </a:rPr>
              <a:t>acidity · sulphates
alcohol · density · 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77072" y="3575304"/>
            <a:ext cx="2624328" cy="0"/>
          </a:xfrm>
          <a:prstGeom prst="line">
            <a:avLst/>
          </a:prstGeom>
          <a:ln w="1524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58784" y="38221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21538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7F1E7"/>
                </a:solidFill>
                <a:latin typeface="Georgia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4809744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7"/>
                </a:solidFill>
                <a:latin typeface="Arial"/>
              </a:rPr>
              <a:t>observed labels 3–8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60720"/>
            <a:ext cx="105156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F7F1E7"/>
                </a:solidFill>
                <a:latin typeface="Arial"/>
              </a:rPr>
              <a:t>Goal: compare a single Decision Tree with a 300-tree Random Forest, then serve the better pipeline in Streamlit.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02 /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The UCI red-wine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1,599 rows · 11 physicochemical inputs · 1 numeric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874519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8C68A"/>
                </a:solidFill>
                <a:latin typeface="Georgia"/>
              </a:rPr>
              <a:t>1,599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56032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OBSERVATIONS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5536" y="1883664"/>
            <a:ext cx="0" cy="978408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38144" y="1874519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8C68A"/>
                </a:solidFill>
                <a:latin typeface="Georgia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56032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NUMERIC PREDICTORS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1883664"/>
            <a:ext cx="0" cy="978408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72784" y="1874519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8C68A"/>
                </a:solidFill>
                <a:latin typeface="Georg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6032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MISSING CELLS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14816" y="1883664"/>
            <a:ext cx="0" cy="978408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07424" y="1874519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8C68A"/>
                </a:solidFill>
                <a:latin typeface="Georgia"/>
              </a:rPr>
              <a:t>240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256032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DUPLICATE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23697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QUALITY SCORE DISTRIBUTION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5585547"/>
            <a:ext cx="704088" cy="28868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68756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7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320371"/>
            <a:ext cx="704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56816" y="5461411"/>
            <a:ext cx="704088" cy="153004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56816" y="568756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7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6816" y="5196235"/>
            <a:ext cx="704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53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9544" y="3648456"/>
            <a:ext cx="704088" cy="1965960"/>
          </a:xfrm>
          <a:prstGeom prst="rect">
            <a:avLst/>
          </a:prstGeom>
          <a:solidFill>
            <a:srgbClr val="E8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9544" y="568756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7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3383279"/>
            <a:ext cx="704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681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3772591"/>
            <a:ext cx="704088" cy="1841824"/>
          </a:xfrm>
          <a:prstGeom prst="rect">
            <a:avLst/>
          </a:prstGeom>
          <a:solidFill>
            <a:srgbClr val="E8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568756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7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3507415"/>
            <a:ext cx="704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638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5039928"/>
            <a:ext cx="704088" cy="574487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568756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7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774752"/>
            <a:ext cx="704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199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67728" y="5562452"/>
            <a:ext cx="704088" cy="51963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568756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7"/>
                </a:solidFill>
                <a:latin typeface="Arial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5297276"/>
            <a:ext cx="704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273552"/>
            <a:ext cx="29077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WHY THIS MATTERS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703320"/>
            <a:ext cx="2926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7"/>
                </a:solidFill>
                <a:latin typeface="Arial"/>
              </a:rPr>
              <a:t>Ratings 5 and 6 account for 82.5% of samples. Extreme scores are rare, so the model mostly learns the middle of the scale.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68756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  <a:hlinkClick r:id="rId2"/>
              </a:rPr>
              <a:t>UCI source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03 / EXPLORATORY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Signals in the 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Pearson correlation with quality highlights directional relationships before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1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CORRELATION WITH QUALITY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21224" y="2368296"/>
            <a:ext cx="0" cy="2907792"/>
          </a:xfrm>
          <a:prstGeom prst="line">
            <a:avLst/>
          </a:prstGeom>
          <a:ln w="1397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2395728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Alcohol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21224" y="2514600"/>
            <a:ext cx="2525357" cy="0"/>
          </a:xfrm>
          <a:prstGeom prst="line">
            <a:avLst/>
          </a:prstGeom>
          <a:ln w="1016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0" y="239572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C68A"/>
                </a:solidFill>
                <a:latin typeface="Arial"/>
              </a:rPr>
              <a:t>+0.476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90088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Sulphates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21224" y="3108960"/>
            <a:ext cx="1333289" cy="0"/>
          </a:xfrm>
          <a:prstGeom prst="line">
            <a:avLst/>
          </a:prstGeom>
          <a:ln w="1016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299008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C68A"/>
                </a:solidFill>
                <a:latin typeface="Arial"/>
              </a:rPr>
              <a:t>+0.251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84448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Citric acid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21224" y="3703320"/>
            <a:ext cx="1200571" cy="0"/>
          </a:xfrm>
          <a:prstGeom prst="line">
            <a:avLst/>
          </a:prstGeom>
          <a:ln w="1016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0" y="358444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C68A"/>
                </a:solidFill>
                <a:latin typeface="Arial"/>
              </a:rPr>
              <a:t>+0.226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78808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Total sulfur dioxide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239540" y="4297680"/>
            <a:ext cx="981684" cy="0"/>
          </a:xfrm>
          <a:prstGeom prst="line">
            <a:avLst/>
          </a:prstGeom>
          <a:ln w="101600">
            <a:solidFill>
              <a:srgbClr val="A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0" y="417880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D8D99"/>
                </a:solidFill>
                <a:latin typeface="Arial"/>
              </a:rPr>
              <a:t>-0.185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73168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Volatile acidity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149893" y="4892040"/>
            <a:ext cx="2071331" cy="0"/>
          </a:xfrm>
          <a:prstGeom prst="line">
            <a:avLst/>
          </a:prstGeom>
          <a:ln w="101600">
            <a:solidFill>
              <a:srgbClr val="A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0" y="477316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D8D99"/>
                </a:solidFill>
                <a:latin typeface="Arial"/>
              </a:rPr>
              <a:t>-0.391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1901952"/>
            <a:ext cx="2286000" cy="356616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192" y="2194560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697480"/>
            <a:ext cx="1783080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Alcohol has the strongest positive linear link; volatile acidity the strongest negative. These are associations, not causes.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696712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7"/>
                </a:solidFill>
                <a:latin typeface="Arial"/>
              </a:rPr>
              <a:t>The notebook also plots the full correlation matrix and checks the distribution of the target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04 /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A consistent path to model-ready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The notebook and training script use the same scikit-learn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039112"/>
            <a:ext cx="2002536" cy="2212848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8C68A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761488"/>
            <a:ext cx="1645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18688"/>
            <a:ext cx="164592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7"/>
                </a:solidFill>
                <a:latin typeface="Arial"/>
              </a:rPr>
              <a:t>Semicolon-separated 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8" y="3081528"/>
            <a:ext cx="274320" cy="0"/>
          </a:xfrm>
          <a:prstGeom prst="line">
            <a:avLst/>
          </a:prstGeom>
          <a:ln w="1905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16936" y="2039112"/>
            <a:ext cx="2002536" cy="2212848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9816" y="221284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8C68A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2761488"/>
            <a:ext cx="1645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3218688"/>
            <a:ext cx="164592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7"/>
                </a:solidFill>
                <a:latin typeface="Arial"/>
              </a:rPr>
              <a:t>80% train / 20% test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28616" y="3081528"/>
            <a:ext cx="274320" cy="0"/>
          </a:xfrm>
          <a:prstGeom prst="line">
            <a:avLst/>
          </a:prstGeom>
          <a:ln w="1905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21224" y="2039112"/>
            <a:ext cx="2002536" cy="2212848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221284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8C68A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2761488"/>
            <a:ext cx="1645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IMPUTE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3218688"/>
            <a:ext cx="164592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7"/>
                </a:solidFill>
                <a:latin typeface="Arial"/>
              </a:rPr>
              <a:t>Median per feature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32904" y="3081528"/>
            <a:ext cx="274320" cy="0"/>
          </a:xfrm>
          <a:prstGeom prst="line">
            <a:avLst/>
          </a:prstGeom>
          <a:ln w="1905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25512" y="2039112"/>
            <a:ext cx="2002536" cy="2212848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21284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8C68A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761488"/>
            <a:ext cx="1645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3218688"/>
            <a:ext cx="164592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7"/>
                </a:solidFill>
                <a:latin typeface="Arial"/>
              </a:rPr>
              <a:t>StandardScaler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37192" y="3081528"/>
            <a:ext cx="274320" cy="0"/>
          </a:xfrm>
          <a:prstGeom prst="line">
            <a:avLst/>
          </a:prstGeom>
          <a:ln w="1905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829800" y="2039112"/>
            <a:ext cx="2002536" cy="2212848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221284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8C68A"/>
                </a:solidFill>
                <a:latin typeface="Georgia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761488"/>
            <a:ext cx="1645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218688"/>
            <a:ext cx="164592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7"/>
                </a:solidFill>
                <a:latin typeface="Arial"/>
              </a:rPr>
              <a:t>Tree or forest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7512" y="4864608"/>
            <a:ext cx="10872216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6656" y="5157216"/>
            <a:ext cx="37033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REPRODUCIBLE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5522976"/>
            <a:ext cx="37124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7"/>
                </a:solidFill>
                <a:latin typeface="Arial"/>
              </a:rPr>
              <a:t>random_state=42  ·  1,279 training rows  ·  320 test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5157216"/>
            <a:ext cx="42062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PIPELINE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5522976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7"/>
                </a:solidFill>
                <a:latin typeface="Arial"/>
              </a:rPr>
              <a:t>Imputer and scaler are fitted with training data, then reused for test data and app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05 / MODEL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Decision Tree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A single constrained tree creates interpretable if/then regions.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ONE MODEL · ONE PATH PER WINE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459736"/>
            <a:ext cx="4187952" cy="64008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1E7"/>
                </a:solidFill>
                <a:latin typeface="Arial"/>
              </a:rPr>
              <a:t>Root: choose the strongest split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673352" y="3099816"/>
            <a:ext cx="1124712" cy="649223"/>
          </a:xfrm>
          <a:prstGeom prst="line">
            <a:avLst/>
          </a:prstGeom>
          <a:ln w="2159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98064" y="3099816"/>
            <a:ext cx="1142999" cy="649223"/>
          </a:xfrm>
          <a:prstGeom prst="line">
            <a:avLst/>
          </a:prstGeom>
          <a:ln w="2159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95528" y="3749039"/>
            <a:ext cx="1856231" cy="64008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3749039"/>
            <a:ext cx="1856231" cy="64008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41063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1E7"/>
                </a:solidFill>
                <a:latin typeface="Arial"/>
              </a:rPr>
              <a:t>feature ≤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941063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1E7"/>
                </a:solidFill>
                <a:latin typeface="Arial"/>
              </a:rPr>
              <a:t>feature &gt; threshold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19072" y="4389120"/>
            <a:ext cx="0" cy="576072"/>
          </a:xfrm>
          <a:prstGeom prst="line">
            <a:avLst/>
          </a:prstGeom>
          <a:ln w="1905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50208" y="4389120"/>
            <a:ext cx="0" cy="576072"/>
          </a:xfrm>
          <a:prstGeom prst="line">
            <a:avLst/>
          </a:prstGeom>
          <a:ln w="1905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444752" y="4965192"/>
            <a:ext cx="548640" cy="548640"/>
          </a:xfrm>
          <a:prstGeom prst="ellipse">
            <a:avLst/>
          </a:prstGeom>
          <a:solidFill>
            <a:srgbClr val="E8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75887" y="4965192"/>
            <a:ext cx="548640" cy="548640"/>
          </a:xfrm>
          <a:prstGeom prst="ellipse">
            <a:avLst/>
          </a:prstGeom>
          <a:solidFill>
            <a:srgbClr val="E8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74243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7"/>
                </a:solidFill>
                <a:latin typeface="Arial"/>
              </a:rPr>
              <a:t>Terminal leaves return a mean quality estimate.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47088"/>
            <a:ext cx="5257800" cy="4279392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67128"/>
            <a:ext cx="44805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615184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1E7"/>
                </a:solidFill>
                <a:latin typeface="Arial"/>
              </a:rPr>
              <a:t>max_depth =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05409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1E7"/>
                </a:solidFill>
                <a:latin typeface="Arial"/>
              </a:rPr>
              <a:t>min_samples_leaf =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29400" y="3593592"/>
            <a:ext cx="4608576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29400" y="3840480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B0A7"/>
                </a:solidFill>
                <a:latin typeface="Arial"/>
              </a:rPr>
              <a:t>HELD-OUT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33672"/>
            <a:ext cx="2093976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7F1E7"/>
                </a:solidFill>
                <a:latin typeface="Georgia"/>
              </a:rPr>
              <a:t>0.660239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83717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RMSE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233672"/>
            <a:ext cx="201168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7F1E7"/>
                </a:solidFill>
                <a:latin typeface="Georgia"/>
              </a:rPr>
              <a:t>0.332959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83717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R² 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504688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0A7"/>
                </a:solidFill>
                <a:latin typeface="Arial"/>
              </a:rPr>
              <a:t>Useful baseline, but one tree has higher test error.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06 / MODEL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Random Forest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Three hundred randomized trees average their predictions into one estimate.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2770632"/>
            <a:ext cx="0" cy="1389888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40080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94944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6112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95528" y="2523744"/>
            <a:ext cx="201168" cy="201168"/>
          </a:xfrm>
          <a:prstGeom prst="ellipse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554480" y="2770632"/>
            <a:ext cx="0" cy="1389888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98448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54480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53312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54480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453896" y="2523744"/>
            <a:ext cx="201168" cy="201168"/>
          </a:xfrm>
          <a:prstGeom prst="ellipse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212848" y="2770632"/>
            <a:ext cx="0" cy="1389888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956815" y="3218688"/>
            <a:ext cx="256033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12848" y="3218688"/>
            <a:ext cx="256031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11679" y="3813048"/>
            <a:ext cx="201169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12848" y="3813048"/>
            <a:ext cx="201167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112263" y="2523744"/>
            <a:ext cx="201168" cy="201168"/>
          </a:xfrm>
          <a:prstGeom prst="ellipse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871216" y="2770632"/>
            <a:ext cx="0" cy="1389888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615184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1216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670048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71216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770632" y="2523744"/>
            <a:ext cx="201168" cy="201168"/>
          </a:xfrm>
          <a:prstGeom prst="ellipse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529584" y="2770632"/>
            <a:ext cx="0" cy="1389888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273552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9584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328416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29584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429000" y="2523744"/>
            <a:ext cx="201168" cy="201168"/>
          </a:xfrm>
          <a:prstGeom prst="ellipse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187952" y="2770632"/>
            <a:ext cx="0" cy="1389888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931920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87952" y="3218688"/>
            <a:ext cx="256031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986784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7952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087368" y="2523744"/>
            <a:ext cx="201168" cy="201168"/>
          </a:xfrm>
          <a:prstGeom prst="ellipse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846320" y="2770632"/>
            <a:ext cx="0" cy="1389888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4590288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46320" y="3218688"/>
            <a:ext cx="256032" cy="310896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645152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46320" y="3813048"/>
            <a:ext cx="201168" cy="237743"/>
          </a:xfrm>
          <a:prstGeom prst="line">
            <a:avLst/>
          </a:prstGeom>
          <a:ln w="1270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745736" y="2523744"/>
            <a:ext cx="201168" cy="201168"/>
          </a:xfrm>
          <a:prstGeom prst="ellipse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" y="200253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ENSEMBLE LOGIC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42415" y="4754880"/>
            <a:ext cx="4005073" cy="0"/>
          </a:xfrm>
          <a:prstGeom prst="line">
            <a:avLst/>
          </a:prstGeom>
          <a:ln w="2159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32688" y="507492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7F1E7"/>
                </a:solidFill>
                <a:latin typeface="Georgia"/>
              </a:rPr>
              <a:t>tree₁ + tree₂ + … + tree₃₀₀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21992" y="5586984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68A"/>
                </a:solidFill>
                <a:latin typeface="Arial"/>
              </a:rPr>
              <a:t>÷ 300  →  prediction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847088"/>
            <a:ext cx="5257800" cy="4279392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2167128"/>
            <a:ext cx="44805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SELECTED MODEL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2615184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1E7"/>
                </a:solidFill>
                <a:latin typeface="Arial"/>
              </a:rPr>
              <a:t>n_estimators = 300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305409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1E7"/>
                </a:solidFill>
                <a:latin typeface="Arial"/>
              </a:rPr>
              <a:t>min_samples_leaf = 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629400" y="3593592"/>
            <a:ext cx="4608576" cy="0"/>
          </a:xfrm>
          <a:prstGeom prst="line">
            <a:avLst/>
          </a:prstGeom>
          <a:ln w="1016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629400" y="3840480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HELD-OUT TEST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233672"/>
            <a:ext cx="2093976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7F1E7"/>
                </a:solidFill>
                <a:latin typeface="Georgia"/>
              </a:rPr>
              <a:t>0.557963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483717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RMSE 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4233672"/>
            <a:ext cx="201168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7F1E7"/>
                </a:solidFill>
                <a:latin typeface="Georgia"/>
              </a:rPr>
              <a:t>0.523612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483717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R² 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400" y="5504688"/>
            <a:ext cx="4398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1E7"/>
                </a:solidFill>
                <a:latin typeface="Arial"/>
              </a:rPr>
              <a:t>Lower RMSE wins the notebook’s selection rule.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07 /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One workflow, saved as a reusable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The notebook documents exploration and evaluation; train_model.py exports the fitted artifacts.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1920240"/>
            <a:ext cx="2587752" cy="324612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" y="1920240"/>
            <a:ext cx="2587752" cy="50292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249424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E8C68A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87121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" y="3355848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Inspect data, plot target distribution and correlations.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1920240"/>
            <a:ext cx="2587752" cy="3246120"/>
          </a:xfrm>
          <a:prstGeom prst="rect">
            <a:avLst/>
          </a:prstGeom>
          <a:solidFill>
            <a:srgbClr val="20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1920240"/>
            <a:ext cx="2587752" cy="50292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2249424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E8C68A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87121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355848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Fit both pipelines on identical training rows.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79" y="1920240"/>
            <a:ext cx="2587752" cy="324612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1920240"/>
            <a:ext cx="2587752" cy="50292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7" y="2249424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E8C68A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7" y="287121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7" y="3355848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Calculate MAE, MSE, RMSE and R²; select by RMSE.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1920240"/>
            <a:ext cx="2587752" cy="3246120"/>
          </a:xfrm>
          <a:prstGeom prst="rect">
            <a:avLst/>
          </a:prstGeom>
          <a:solidFill>
            <a:srgbClr val="20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17152" y="1920240"/>
            <a:ext cx="2587752" cy="50292"/>
          </a:xfrm>
          <a:prstGeom prst="rect">
            <a:avLst/>
          </a:prstGeom>
          <a:solidFill>
            <a:srgbClr val="E8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249424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E8C68A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87121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355848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Joblib model, metrics, predictions and feature importance.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" y="5440680"/>
            <a:ext cx="10936224" cy="667512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650992"/>
            <a:ext cx="105156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Saved artifact:  models/wine_quality_model.joblib   =   median imputer  +  scaler  +  selected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08 / TEST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The forest improves every test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Both estimators used the same 320 held-out rows. Lower errors and higher R² are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47672"/>
            <a:ext cx="2907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1947672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1947672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4767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1947672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R²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" y="2295144"/>
            <a:ext cx="10689336" cy="0"/>
          </a:xfrm>
          <a:prstGeom prst="line">
            <a:avLst/>
          </a:prstGeom>
          <a:ln w="1524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67512" y="2459736"/>
            <a:ext cx="10808208" cy="67665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64261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1E7"/>
                </a:solidFill>
                <a:latin typeface="Arial"/>
              </a:rPr>
              <a:t>Decision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642616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7"/>
                </a:solidFill>
                <a:latin typeface="Arial"/>
              </a:rPr>
              <a:t>0.506914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642616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7"/>
                </a:solidFill>
                <a:latin typeface="Arial"/>
              </a:rPr>
              <a:t>0.435915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42616"/>
            <a:ext cx="15270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7"/>
                </a:solidFill>
                <a:latin typeface="Arial"/>
              </a:rPr>
              <a:t>0.660239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642616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7"/>
                </a:solidFill>
                <a:latin typeface="Arial"/>
              </a:rPr>
              <a:t>0.332959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" y="3291840"/>
            <a:ext cx="10808208" cy="676656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474720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1E7"/>
                </a:solidFill>
                <a:latin typeface="Arial"/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496" y="3474720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1E7"/>
                </a:solidFill>
                <a:latin typeface="Arial"/>
              </a:rPr>
              <a:t>0.429716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3474720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1E7"/>
                </a:solidFill>
                <a:latin typeface="Arial"/>
              </a:rPr>
              <a:t>0.311323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474720"/>
            <a:ext cx="15270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1E7"/>
                </a:solidFill>
                <a:latin typeface="Arial"/>
              </a:rPr>
              <a:t>0.557963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474720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1E7"/>
                </a:solidFill>
                <a:latin typeface="Arial"/>
              </a:rPr>
              <a:t>0.523612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462272"/>
            <a:ext cx="4956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RMSE  ·  quality-score units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01768"/>
            <a:ext cx="4782312" cy="26517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001768"/>
            <a:ext cx="4325299" cy="265176"/>
          </a:xfrm>
          <a:prstGeom prst="rect">
            <a:avLst/>
          </a:prstGeom>
          <a:solidFill>
            <a:srgbClr val="CD8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404104"/>
            <a:ext cx="4782312" cy="26517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04104"/>
            <a:ext cx="3655278" cy="265176"/>
          </a:xfrm>
          <a:prstGeom prst="rect">
            <a:avLst/>
          </a:prstGeom>
          <a:solidFill>
            <a:srgbClr val="E8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495604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Tree    0.660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537667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1E7"/>
                </a:solidFill>
                <a:latin typeface="Arial"/>
              </a:rPr>
              <a:t>Forest  0.558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5048" y="4462272"/>
            <a:ext cx="3081528" cy="132588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224" y="4654296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RMSE IMPROVEMENT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992624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7F1E7"/>
                </a:solidFill>
                <a:latin typeface="Georgia"/>
              </a:rPr>
              <a:t>15.49%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598932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8B0A7"/>
                </a:solidFill>
                <a:latin typeface="Arial"/>
              </a:rPr>
              <a:t>Exact six-decimal values are from artifacts/metrics.json, generated by the notebook/training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09 /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What the forest relied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Impurity-based feature importance measures use in fitted tree splits, not causal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865376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Alcohol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1901952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66744" y="1901952"/>
            <a:ext cx="5824728" cy="173736"/>
          </a:xfrm>
          <a:prstGeom prst="rect">
            <a:avLst/>
          </a:prstGeom>
          <a:solidFill>
            <a:srgbClr val="E8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0928" y="1865376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C68A"/>
                </a:solidFill>
                <a:latin typeface="Arial"/>
              </a:rPr>
              <a:t>28.4%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350008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Sulphates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6744" y="2386584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66744" y="2386584"/>
            <a:ext cx="3259461" cy="173736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350008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15.9%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834640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Volatile Acidity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2871216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66744" y="2871216"/>
            <a:ext cx="2264569" cy="173736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2834640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11.0%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3319272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7"/>
                </a:solidFill>
                <a:latin typeface="Arial"/>
              </a:rPr>
              <a:t>Total Sulfur Dioxide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6744" y="3355848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66744" y="3355848"/>
            <a:ext cx="1594533" cy="173736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3319272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7.8%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3803904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7"/>
                </a:solidFill>
                <a:latin typeface="Arial"/>
              </a:rPr>
              <a:t>Chlorides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3840480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66744" y="3840480"/>
            <a:ext cx="1378212" cy="173736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3803904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6.7%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288536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7"/>
                </a:solidFill>
                <a:latin typeface="Arial"/>
              </a:rPr>
              <a:t>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66744" y="4325112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66744" y="4325112"/>
            <a:ext cx="1183639" cy="173736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10928" y="4288536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5.8%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773168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7"/>
                </a:solidFill>
                <a:latin typeface="Arial"/>
              </a:rPr>
              <a:t>Residual Sugar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66744" y="4809744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66744" y="4809744"/>
            <a:ext cx="1064454" cy="173736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4773168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5.2%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5257800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7"/>
                </a:solidFill>
                <a:latin typeface="Arial"/>
              </a:rPr>
              <a:t>Fixed Acidity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66744" y="5294376"/>
            <a:ext cx="5824728" cy="17373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66744" y="5294376"/>
            <a:ext cx="1053930" cy="173736"/>
          </a:xfrm>
          <a:prstGeom prst="rect">
            <a:avLst/>
          </a:prstGeom>
          <a:solidFill>
            <a:srgbClr val="A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0928" y="5257800"/>
            <a:ext cx="12252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7"/>
                </a:solidFill>
                <a:latin typeface="Arial"/>
              </a:rPr>
              <a:t>5.1%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" y="5870448"/>
            <a:ext cx="10744200" cy="35661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94360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1E7"/>
                </a:solidFill>
                <a:latin typeface="Arial"/>
              </a:rPr>
              <a:t>Top three: alcohol 28.4%  ·  sulphates 15.9%  ·  volatile acidity 11.0%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10 /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The model becomes a usable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Streamlit loads the saved pipeline and accepts the same 11 feature names and training ranges.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10908792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908792" cy="347472"/>
          </a:xfrm>
          <a:prstGeom prst="rect">
            <a:avLst/>
          </a:prstGeom>
          <a:solidFill>
            <a:srgbClr val="E7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1975104"/>
            <a:ext cx="91440" cy="91440"/>
          </a:xfrm>
          <a:prstGeom prst="ellipse">
            <a:avLst/>
          </a:prstGeom>
          <a:solidFill>
            <a:srgbClr val="E1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6696" y="1975104"/>
            <a:ext cx="91440" cy="91440"/>
          </a:xfrm>
          <a:prstGeom prst="ellipse">
            <a:avLst/>
          </a:prstGeom>
          <a:solidFill>
            <a:srgbClr val="E7B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" y="1975104"/>
            <a:ext cx="91440" cy="91440"/>
          </a:xfrm>
          <a:prstGeom prst="ellipse">
            <a:avLst/>
          </a:prstGeom>
          <a:solidFill>
            <a:srgbClr val="70B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938528"/>
            <a:ext cx="3886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5B60"/>
                </a:solidFill>
                <a:latin typeface="Arial"/>
              </a:rPr>
              <a:t>Wine Quality Predictor —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94560"/>
            <a:ext cx="2075688" cy="3995928"/>
          </a:xfrm>
          <a:prstGeom prst="rect">
            <a:avLst/>
          </a:prstGeom>
          <a:solidFill>
            <a:srgbClr val="F3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523744"/>
            <a:ext cx="1645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62B36"/>
                </a:solidFill>
                <a:latin typeface="Arial"/>
              </a:rPr>
              <a:t>About this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852928"/>
            <a:ext cx="16184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5660"/>
                </a:solidFill>
                <a:latin typeface="Arial"/>
              </a:rPr>
              <a:t>A model estimates red-wine quality from laboratory measurements.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0392" y="3621024"/>
            <a:ext cx="1627632" cy="0"/>
          </a:xfrm>
          <a:prstGeom prst="line">
            <a:avLst/>
          </a:prstGeom>
          <a:ln w="10160">
            <a:solidFill>
              <a:srgbClr val="D8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2" y="3867912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76E78"/>
                </a:solidFill>
                <a:latin typeface="Arial"/>
              </a:rPr>
              <a:t>Selected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1422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62B36"/>
                </a:solidFill>
                <a:latin typeface="Arial"/>
              </a:rPr>
              <a:t>Random Forest
Regressor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37176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76E78"/>
                </a:solidFill>
                <a:latin typeface="Arial"/>
              </a:rPr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111496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62B36"/>
                </a:solidFill>
                <a:latin typeface="Arial"/>
              </a:rPr>
              <a:t>UCI Red Wine Quality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414016"/>
            <a:ext cx="8302752" cy="950976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5536" y="2560320"/>
            <a:ext cx="7040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C68A"/>
                </a:solidFill>
                <a:latin typeface="Arial"/>
              </a:rPr>
              <a:t>MACHINE LEARNING FUNDAMENTALS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2852928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Wine Quality Predictor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0672" y="3584448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0243B"/>
                </a:solidFill>
                <a:latin typeface="Arial"/>
              </a:rPr>
              <a:t>Predict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5856" y="3584448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747B"/>
                </a:solidFill>
                <a:latin typeface="Arial"/>
              </a:rPr>
              <a:t>Model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58444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747B"/>
                </a:solidFill>
                <a:latin typeface="Arial"/>
              </a:rPr>
              <a:t>Project guide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99816" y="3867912"/>
            <a:ext cx="8065008" cy="0"/>
          </a:xfrm>
          <a:prstGeom prst="line">
            <a:avLst/>
          </a:prstGeom>
          <a:ln w="10160">
            <a:solidFill>
              <a:srgbClr val="DD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27248" y="407822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22A"/>
                </a:solidFill>
                <a:latin typeface="Arial"/>
              </a:rPr>
              <a:t>Enter wine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450799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04B51"/>
                </a:solidFill>
                <a:latin typeface="Arial"/>
              </a:rPr>
              <a:t>Fixed Acidity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6392" y="4709159"/>
            <a:ext cx="14447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9544" y="4773168"/>
            <a:ext cx="12618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42F36"/>
                </a:solidFill>
                <a:latin typeface="Arial"/>
              </a:rPr>
              <a:t>7.9000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450799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04B51"/>
                </a:solidFill>
                <a:latin typeface="Arial"/>
              </a:rPr>
              <a:t>Volatile Acidity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28032" y="4709159"/>
            <a:ext cx="14447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01184" y="4773168"/>
            <a:ext cx="12618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42F36"/>
                </a:solidFill>
                <a:latin typeface="Arial"/>
              </a:rPr>
              <a:t>0.5200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450799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04B51"/>
                </a:solidFill>
                <a:latin typeface="Arial"/>
              </a:rPr>
              <a:t>Citric Acid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9672" y="4709159"/>
            <a:ext cx="14447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4773168"/>
            <a:ext cx="12618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42F36"/>
                </a:solidFill>
                <a:latin typeface="Arial"/>
              </a:rPr>
              <a:t>0.2600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6392" y="5129783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04B51"/>
                </a:solidFill>
                <a:latin typeface="Arial"/>
              </a:rPr>
              <a:t>Residual Sugar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36392" y="5330951"/>
            <a:ext cx="14447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9544" y="5394959"/>
            <a:ext cx="12618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42F36"/>
                </a:solidFill>
                <a:latin typeface="Arial"/>
              </a:rPr>
              <a:t>2.2000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5129783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04B51"/>
                </a:solidFill>
                <a:latin typeface="Arial"/>
              </a:rPr>
              <a:t>Chlorides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2" y="5330951"/>
            <a:ext cx="14447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4" y="5394959"/>
            <a:ext cx="12618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42F36"/>
                </a:solidFill>
                <a:latin typeface="Arial"/>
              </a:rPr>
              <a:t>0.0790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9672" y="5129783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04B51"/>
                </a:solidFill>
                <a:latin typeface="Arial"/>
              </a:rPr>
              <a:t>Alcohol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9672" y="5330951"/>
            <a:ext cx="14447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92824" y="5394959"/>
            <a:ext cx="12618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42F36"/>
                </a:solidFill>
                <a:latin typeface="Arial"/>
              </a:rPr>
              <a:t>10.2000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36392" y="5815584"/>
            <a:ext cx="2386584" cy="265176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6120" y="5870448"/>
            <a:ext cx="21579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Predict wine quality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586130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D6670"/>
                </a:solidFill>
                <a:latin typeface="Arial"/>
              </a:rPr>
              <a:t>+ 5 more inputs below the fold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68512" y="4160520"/>
            <a:ext cx="2542032" cy="1709928"/>
          </a:xfrm>
          <a:prstGeom prst="rect">
            <a:avLst/>
          </a:prstGeom>
          <a:solidFill>
            <a:srgbClr val="FFF5F8"/>
          </a:solidFill>
          <a:ln w="9525">
            <a:solidFill>
              <a:srgbClr val="EE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4379976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F5870"/>
                </a:solidFill>
                <a:latin typeface="Arial"/>
              </a:rPr>
              <a:t>PREDICTED QUALITY SCORE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73659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A1740"/>
                </a:solidFill>
                <a:latin typeface="Arial"/>
              </a:rPr>
              <a:t>5.69 /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5422392"/>
            <a:ext cx="2066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D214F"/>
                </a:solidFill>
                <a:latin typeface="Arial"/>
              </a:rPr>
              <a:t>Middle predicted range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" y="6236208"/>
            <a:ext cx="10789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B0A7"/>
                </a:solidFill>
                <a:latin typeface="Arial"/>
              </a:rPr>
              <a:t>UI mock reflects app.py; 5.69 is the saved model’s prediction for the median-value profile.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11 /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How far should we trust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A useful educational estimate still has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56231"/>
            <a:ext cx="56692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C68A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856231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1E7"/>
                </a:solidFill>
                <a:latin typeface="Arial"/>
              </a:rPr>
              <a:t>Subjective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258568"/>
            <a:ext cx="45445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Quality scores reflect human ratings, so labels contain judgment.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935224"/>
            <a:ext cx="5276088" cy="0"/>
          </a:xfrm>
          <a:prstGeom prst="line">
            <a:avLst/>
          </a:prstGeom>
          <a:ln w="889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172968"/>
            <a:ext cx="56692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C68A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172968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1E7"/>
                </a:solidFill>
                <a:latin typeface="Arial"/>
              </a:rPr>
              <a:t>Uneven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3575303"/>
            <a:ext cx="45445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Most examples are scores 5–6; extremes have little training support.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251959"/>
            <a:ext cx="5276088" cy="0"/>
          </a:xfrm>
          <a:prstGeom prst="line">
            <a:avLst/>
          </a:prstGeom>
          <a:ln w="889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489704"/>
            <a:ext cx="56692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C68A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4489704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1E7"/>
                </a:solidFill>
                <a:latin typeface="Arial"/>
              </a:rPr>
              <a:t>Single split + duplicates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" y="4892040"/>
            <a:ext cx="45445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The reported test metrics use one split of data containing 240 duplicate rows.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568696"/>
            <a:ext cx="5276088" cy="0"/>
          </a:xfrm>
          <a:prstGeom prst="line">
            <a:avLst/>
          </a:prstGeom>
          <a:ln w="889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20256" y="1847088"/>
            <a:ext cx="4910328" cy="41148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2212848"/>
            <a:ext cx="40690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NEXT ITERATION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697480"/>
            <a:ext cx="4087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1E7"/>
                </a:solidFill>
                <a:latin typeface="Georgia"/>
              </a:rPr>
              <a:t>Test robustness, then broaden the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059936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Group duplicate wines before splitting.
Use repeated cross-validation.
Evaluate performance at rare scores.
Add sensory and contextual features.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135624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Use the prediction as a model-based estimate, not an official wine rating.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483096"/>
            <a:ext cx="11201400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556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17C79"/>
                </a:solidFill>
                <a:latin typeface="Arial"/>
              </a:rPr>
              <a:t>TEAM BDA  /  WINE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6537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C68A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C68A"/>
                </a:solidFill>
                <a:latin typeface="Arial"/>
              </a:rPr>
              <a:t>12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85800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7F1E7"/>
                </a:solidFill>
                <a:latin typeface="Georgia"/>
              </a:rPr>
              <a:t>From data to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7"/>
                </a:solidFill>
                <a:latin typeface="Arial"/>
              </a:rPr>
              <a:t>A complete machine-learning workflow with a working inference interface.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65376"/>
            <a:ext cx="5971032" cy="4151376"/>
          </a:xfrm>
          <a:prstGeom prst="rect">
            <a:avLst/>
          </a:prstGeom>
          <a:solidFill>
            <a:srgbClr val="82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94560"/>
            <a:ext cx="5257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SELECTED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70048"/>
            <a:ext cx="523036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7F1E7"/>
                </a:solidFill>
                <a:latin typeface="Georgia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310128"/>
            <a:ext cx="52303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1E7"/>
                </a:solidFill>
                <a:latin typeface="Arial"/>
              </a:rPr>
              <a:t>RMSE 0.557963   ·   R² 0.523612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3931920"/>
            <a:ext cx="5212080" cy="0"/>
          </a:xfrm>
          <a:prstGeom prst="line">
            <a:avLst/>
          </a:prstGeom>
          <a:ln w="13970">
            <a:solidFill>
              <a:srgbClr val="E8C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0976" y="4242816"/>
            <a:ext cx="50657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7"/>
                </a:solidFill>
                <a:latin typeface="Arial"/>
              </a:rPr>
              <a:t>The fitted preprocessing and forest are saved together and used by Streamlit.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312664"/>
            <a:ext cx="49651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TEAM BDA  /  GROUP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11095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68A"/>
                </a:solidFill>
                <a:latin typeface="Arial"/>
              </a:rPr>
              <a:t>PROJECT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13432"/>
            <a:ext cx="43891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C68A"/>
                </a:solidFill>
                <a:latin typeface="Arial"/>
                <a:hlinkClick r:id="rId2"/>
              </a:rPr>
              <a:t>GitHub repository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734056"/>
            <a:ext cx="44074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8B0A7"/>
                </a:solidFill>
                <a:latin typeface="Arial"/>
              </a:rPr>
              <a:t>github.com/SoumitraDeshpande11/
wine-quality-prediction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0" y="3291840"/>
            <a:ext cx="4352544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40880" y="350215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C68A"/>
                </a:solidFill>
                <a:latin typeface="Arial"/>
                <a:hlinkClick r:id="rId3"/>
              </a:rPr>
              <a:t>Live Streamlit app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922776"/>
            <a:ext cx="44074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8B0A7"/>
                </a:solidFill>
                <a:latin typeface="Arial"/>
              </a:rPr>
              <a:t>soumitradeshpande11-wine-quality-
prediction-app-pnq8pq.streamlit.app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80" y="4553712"/>
            <a:ext cx="4352544" cy="0"/>
          </a:xfrm>
          <a:prstGeom prst="line">
            <a:avLst/>
          </a:prstGeom>
          <a:ln w="10160">
            <a:solidFill>
              <a:srgbClr val="4A4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0880" y="4764024"/>
            <a:ext cx="4425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C68A"/>
                </a:solidFill>
                <a:latin typeface="Arial"/>
              </a:rPr>
              <a:t>PRESENTED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093208"/>
            <a:ext cx="4416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1E7"/>
                </a:solidFill>
                <a:latin typeface="Arial"/>
              </a:rPr>
              <a:t>Soumitra Deshpande · Prathamesh Swami
Pranav Kale · R Virshin · Raj Koli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 Prediction | Team BDA</dc:title>
  <dc:subject>Red-wine regression model comparison and Streamlit deployment</dc:subject>
  <dc:creator>Team BDA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